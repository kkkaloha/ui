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74"/>
    <p:restoredTop sz="94610"/>
  </p:normalViewPr>
  <p:slideViewPr>
    <p:cSldViewPr snapToGrid="0" snapToObjects="1">
      <p:cViewPr>
        <p:scale>
          <a:sx n="155" d="100"/>
          <a:sy n="155" d="100"/>
        </p:scale>
        <p:origin x="3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34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206240" y="9144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20624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0" y="18288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InterviewAI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8600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Interview Prep Coach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0" y="2880360"/>
            <a:ext cx="27432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28600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COMP7505 — User Interface Design and 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A: Smart Adaptive Interfaces  |  Group: Cre8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Today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40080" y="125272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1252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1092200"/>
            <a:ext cx="3383280" cy="50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Users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1275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 and why it matters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170992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080" y="1709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" y="1549400"/>
            <a:ext cx="3383280" cy="50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1732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InterviewAI does differently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216712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0080" y="2167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" y="2006600"/>
            <a:ext cx="3383280" cy="50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Design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15568" y="2189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interact with the system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262432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40080" y="2624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5568" y="2463800"/>
            <a:ext cx="3383280" cy="50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Adaptive Interface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15568" y="2646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requirements in action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" y="308152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40080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15568" y="2921000"/>
            <a:ext cx="3383280" cy="50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Iteration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15568" y="3103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Evidence-driven design improvement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" y="353872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40080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15568" y="3378200"/>
            <a:ext cx="3383280" cy="50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15568" y="3561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0080" y="399592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40080" y="3995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115568" y="3835400"/>
            <a:ext cx="3383280" cy="50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Closing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115568" y="4018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 next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03520" y="123444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5486400" y="1371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Our Goal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4864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 you that InterviewAI solves a real pain point with evidence-based design — not feature stacking.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86400" y="22860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Criteria: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86400" y="2514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User pain-point match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86400" y="27432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Prototype quality &amp; design rationale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0" y="29718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Evaluation iteration evidence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86400" y="32004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Solution feasibility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86400" y="34290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UX-based differentiation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5"/>
            <a:ext cx="1051560" cy="2408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5"/>
            <a:ext cx="1051560" cy="2408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5"/>
            <a:ext cx="1051560" cy="2408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5"/>
            <a:ext cx="1051560" cy="2408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5"/>
            <a:ext cx="1051560" cy="2408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5"/>
            <a:ext cx="1051560" cy="2408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5"/>
            <a:ext cx="1051560" cy="2408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 Prep Gap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tech graduates face a broken preparation loop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11887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1188720"/>
            <a:ext cx="4023360" cy="320040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Persona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1516142"/>
            <a:ext cx="1097280" cy="3126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1757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Lee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42516" y="1516142"/>
            <a:ext cx="1097280" cy="312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0" y="1757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2002488"/>
            <a:ext cx="1097280" cy="25516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217578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MSC CS Student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2334633"/>
            <a:ext cx="1097280" cy="3283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Goals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2500884"/>
            <a:ext cx="3657600" cy="557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 frontend/SWE role within 2 months; prepare structured, contextual answers tailored to each JD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2929090"/>
            <a:ext cx="1097280" cy="3283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3165667"/>
            <a:ext cx="3738737" cy="395897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AI feedback feels unreliable and generic; no guidance while drafting; can't tell if answer is good before submitting</a:t>
            </a:r>
          </a:p>
        </p:txBody>
      </p:sp>
      <p:sp>
        <p:nvSpPr>
          <p:cNvPr id="31" name="Text 29"/>
          <p:cNvSpPr/>
          <p:nvPr/>
        </p:nvSpPr>
        <p:spPr>
          <a:xfrm>
            <a:off x="640080" y="3565902"/>
            <a:ext cx="1097280" cy="23825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Quotes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3811543"/>
            <a:ext cx="3657600" cy="395897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"Is this AI feedback even reliable?"  /  "Feedback is too generic — doesn't use my resume or JD"</a:t>
            </a:r>
          </a:p>
        </p:txBody>
      </p:sp>
      <p:sp>
        <p:nvSpPr>
          <p:cNvPr id="33" name="Shape 31"/>
          <p:cNvSpPr/>
          <p:nvPr/>
        </p:nvSpPr>
        <p:spPr>
          <a:xfrm>
            <a:off x="4663440" y="11887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846320" y="1284056"/>
            <a:ext cx="3657600" cy="321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Pain Points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1554480"/>
            <a:ext cx="3657600" cy="273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pre-project questionnaire &amp; interviews (n=5)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187452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937760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❓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94960" y="187452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AI feedback even reliable?"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251460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937760" y="2587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🎯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394960" y="251460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"Feedback is too generic — doesn't use my resume or JD"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15468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937760" y="3227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394960" y="315468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know if my answer is good until I submit"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79476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937760" y="3867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😰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394960" y="379476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"Practice doesn't feel like a real interview"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InterviewAI — Not a Grader, a Coach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tasks that close the preparation loop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123444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123444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A: Practice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1691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Paste Job Description + Upload Resume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19933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generates tailored interview questions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22951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Answer with real-time coaching feedback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25968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Receive structured, actionable evaluation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23444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846320" y="123444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029200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B: 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1691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a mock interview recording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19933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extracts Q&amp;A pairs automatically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22951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Review &amp; edit extracted content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25968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Get structured feedback summary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0080" y="3466510"/>
            <a:ext cx="7772400" cy="3611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Differentiator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3749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shifts from a post-hoc scoring tool → an in-process coach. Users get real-time STAR coverage checks, live coaching tips, and quick-improvement inserts while drafting — not after submitting.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Human–AI Collaborative Model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principles guiding every design decision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12344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371600" y="14173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37160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2514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output includes reasoning explanation and confidence indicator. Users judge relevance, not blindly trust.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12344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206240" y="141732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2062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🎛️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8328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29000" y="2514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flag inaccuracies, override scores, undo actions, and discard evaluations. AI suggests — user decides.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2344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040880" y="141732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04088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63640" y="2514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fails, the system offers clear fallback paths: text input for voice failure, generic question bank for generation errors.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 &amp; Core Workflows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280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Modules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1645920"/>
            <a:ext cx="347472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1645920"/>
            <a:ext cx="45720" cy="43891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22960" y="16459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16459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&amp; session overview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2176272"/>
            <a:ext cx="347472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0080" y="2176272"/>
            <a:ext cx="45720" cy="43891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2960" y="217627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217627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→ Resume → Questions → Answer → Feedback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2706624"/>
            <a:ext cx="347472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40080" y="2706624"/>
            <a:ext cx="45720" cy="4389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2960" y="270662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270662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Extract → Edit → Summary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236976"/>
            <a:ext cx="347472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0080" y="3236976"/>
            <a:ext cx="45720" cy="43891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22960" y="323697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323697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sessions, comparison &amp; reflection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3767328"/>
            <a:ext cx="347472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40080" y="3767328"/>
            <a:ext cx="45720" cy="43891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22960" y="376732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11680" y="37673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&amp; account management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11887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754880" y="12801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Workflow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1554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Context → Resume Upload → AI Questions → Answer (Text/Voice) → AI Feedback → Next / Save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Exceptions: invalid file, network error, AI error, voice failure → retry / fallback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4754880" y="2971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Workflow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Upload → Q&amp;A Extraction → Edit &amp; Verify → Feedback Summary → Export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Exceptions: invalid upload, extraction failure, low audio quality → retry / text input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Trustworthy Smart Interface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ensure users stay in control when AI assists their preparation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1188720"/>
            <a:ext cx="4023360" cy="292608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① Capability Boundaries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149961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can and cannot do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1691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Can: Evaluate answer structure, STAR usage, clarity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1938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Can: Generate role-relevant questions from JD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21854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Cannot: Judge industry-specific technical depth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24323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Cannot: Replace real interviewer judgment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26791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Limited: Voice accuracy depends on audio quality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1887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754880" y="1188720"/>
            <a:ext cx="4023360" cy="292608"/>
          </a:xfrm>
          <a:prstGeom prst="roundRect">
            <a:avLst>
              <a:gd name="adj" fmla="val 3125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92040" y="1188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② User Control Mechanism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149961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final authority over all AI outputs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1691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Flag Inaccurate — report wrong feedback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1938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Override Scores — manually adjust dimensions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21854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Undo — revert any action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24323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Discard — reject entire evaluation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06324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3063240"/>
            <a:ext cx="4023360" cy="292608"/>
          </a:xfrm>
          <a:prstGeom prst="roundRect">
            <a:avLst>
              <a:gd name="adj" fmla="val 3125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94360" y="30632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③ System Failure Handling (3 types)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37413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Pre-designed fallback for AI errors &amp; malfunctions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" y="3566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 Failed → switch to text input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3813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Error → use generic question bank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40599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Extraction Failure → manual Q&amp;A entry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" y="43068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 messages with recovery paths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06324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4754880" y="3063240"/>
            <a:ext cx="4023360" cy="292608"/>
          </a:xfrm>
          <a:prstGeom prst="roundRect">
            <a:avLst>
              <a:gd name="adj" fmla="val 3125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892040" y="30632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④ Limitation Communication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92040" y="337413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conveying system boundaries to users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37760" y="3566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indicators (High 🟢 / Low 🟡) on every AI output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37760" y="3813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limitation banner on all evaluation views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37760" y="40599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quality warning on voice extraction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37760" y="43068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Boundaries section in Design Spec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Evaluation — 3 Mixed Methods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 + Cognitive Walkthrough + Think-Aloud Testing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12344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417320" y="13716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417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1965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evaluators • Nielsen's 10 heuristics • 6 dimensions rated 1–5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2560320"/>
            <a:ext cx="2103120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3152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score: 3.0/5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12344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251960" y="137160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2519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83280" y="1965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Walkthrough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users • 2 core tasks • 4 questions per step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66160" y="2560320"/>
            <a:ext cx="2103120" cy="2286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56616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breakdowns found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12344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086600" y="137160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0866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🗣️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17920" y="1965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Think-Aloud Protocol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participants • 25 min sessions • verbal commentary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0" y="2560320"/>
            <a:ext cx="2103120" cy="2286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40080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"Feels like guessing"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1546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0080" y="3246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Found:  2 Critical  •  2 Serious  •  3 Moderate  •  3 Minor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35204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problems traceable to specific heuristic violations and user quotes.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3794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Focus: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39776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trust • Interaction transparency • Cognitive load • Error recovery • User control protection</a:t>
            </a:r>
            <a:endParaRPr lang="en-US" sz="900" dirty="0"/>
          </a:p>
        </p:txBody>
      </p:sp>
      <p:pic>
        <p:nvPicPr>
          <p:cNvPr id="44" name="Image 0" descr="/sessions/69e34f4d1b776ba4061dfc0b/work/severity_chart_blue_800x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543" y="3246120"/>
            <a:ext cx="2717074" cy="118872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1: Question Management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M-03 (filter overload) + S-02 (cognitive overload)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1011345"/>
            <a:ext cx="548640" cy="3440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pic>
        <p:nvPicPr>
          <p:cNvPr id="19" name="Image 0" descr="/sessions/69e34f4d1b776ba4061dfc0b/workspace/小组作业资料/UI/docs/figures/before1.png"/>
          <p:cNvPicPr>
            <a:picLocks noChangeAspect="1"/>
          </p:cNvPicPr>
          <p:nvPr/>
        </p:nvPicPr>
        <p:blipFill rotWithShape="1">
          <a:blip r:embed="rId3"/>
          <a:srcRect t="12709"/>
          <a:stretch/>
        </p:blipFill>
        <p:spPr>
          <a:xfrm>
            <a:off x="548640" y="1293082"/>
            <a:ext cx="3387726" cy="189922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480560" y="991488"/>
            <a:ext cx="548640" cy="383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pic>
        <p:nvPicPr>
          <p:cNvPr id="21" name="Image 1" descr="/sessions/69e34f4d1b776ba4061dfc0b/workspace/小组作业资料/UI/docs/figures/after1.png"/>
          <p:cNvPicPr>
            <a:picLocks noChangeAspect="1"/>
          </p:cNvPicPr>
          <p:nvPr/>
        </p:nvPicPr>
        <p:blipFill rotWithShape="1">
          <a:blip r:embed="rId4"/>
          <a:srcRect t="15667"/>
          <a:stretch/>
        </p:blipFill>
        <p:spPr>
          <a:xfrm>
            <a:off x="4480560" y="1293081"/>
            <a:ext cx="4114800" cy="240534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57200" y="3232404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640080" y="3344417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" y="3566224"/>
            <a:ext cx="7772400" cy="36576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filter bar (type / status / sort) — defaults to collapsed to reduce initial cognitive load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40080" y="3845051"/>
            <a:ext cx="7772400" cy="30175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question status tracking: Not Started / In Progress / Completed / Skipped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40080" y="4078610"/>
            <a:ext cx="7772400" cy="32840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Favorite &amp; Mark Weak buttons for focused practice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40080" y="4389377"/>
            <a:ext cx="7772400" cy="2786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progress counters (Total / Completed / In Progress / Weak Focus)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40080" y="4638453"/>
            <a:ext cx="7772400" cy="35906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Skip &amp; Regenerate controls per question</a:t>
            </a:r>
            <a:endParaRPr lang="en-US" sz="900" dirty="0"/>
          </a:p>
        </p:txBody>
      </p:sp>
      <p:sp>
        <p:nvSpPr>
          <p:cNvPr id="30" name="Text 42">
            <a:extLst>
              <a:ext uri="{FF2B5EF4-FFF2-40B4-BE49-F238E27FC236}">
                <a16:creationId xmlns:a16="http://schemas.microsoft.com/office/drawing/2014/main" id="{0998B280-9320-23B8-FD57-9765A9E37797}"/>
              </a:ext>
            </a:extLst>
          </p:cNvPr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altLang="zh-CN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5"/>
            <a:ext cx="1051560" cy="237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5"/>
            <a:ext cx="1051560" cy="237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5"/>
            <a:ext cx="1051560" cy="237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5"/>
            <a:ext cx="1051560" cy="237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5"/>
            <a:ext cx="1051560" cy="237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5"/>
            <a:ext cx="1051560" cy="237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5"/>
            <a:ext cx="1051560" cy="237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2: Real-Time Coaching 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S-02 (no guidance while drafting) + user quote: "Feels like guessing"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988492"/>
            <a:ext cx="548640" cy="36803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pic>
        <p:nvPicPr>
          <p:cNvPr id="19" name="Image 0" descr="/sessions/69e34f4d1b776ba4061dfc0b/workspace/小组作业资料/UI/docs/figures/before2.png"/>
          <p:cNvPicPr>
            <a:picLocks noChangeAspect="1"/>
          </p:cNvPicPr>
          <p:nvPr/>
        </p:nvPicPr>
        <p:blipFill rotWithShape="1">
          <a:blip r:embed="rId3"/>
          <a:srcRect t="15236"/>
          <a:stretch/>
        </p:blipFill>
        <p:spPr>
          <a:xfrm>
            <a:off x="457200" y="1255593"/>
            <a:ext cx="3840480" cy="205183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480560" y="994905"/>
            <a:ext cx="548640" cy="3703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pic>
        <p:nvPicPr>
          <p:cNvPr id="21" name="Image 1" descr="/sessions/69e34f4d1b776ba4061dfc0b/workspace/小组作业资料/UI/docs/figures/afte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255593"/>
            <a:ext cx="4114800" cy="2628901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57200" y="3153687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640080" y="3245127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 Core Iteration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" y="3519447"/>
            <a:ext cx="7772400" cy="3337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Realtime Scoreboard (Words / Est. Time / STAR Coverage / Coach Readiness)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40080" y="3766334"/>
            <a:ext cx="7772400" cy="3337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STAR Coverage panel — live detection of Situation / Task / Action / Result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40080" y="4013222"/>
            <a:ext cx="7772400" cy="3337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Live Coaching tips — specific, actionable suggestions while drafting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40080" y="4260111"/>
            <a:ext cx="7772400" cy="33375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Quick Improvement Inserts — one-click to add quantified result, team context, role relevance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40080" y="4506999"/>
            <a:ext cx="7772400" cy="333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Coaching panel is collapsible — users who find it distracting can dismiss it</a:t>
            </a:r>
            <a:endParaRPr lang="en-US" sz="900" dirty="0"/>
          </a:p>
        </p:txBody>
      </p:sp>
      <p:sp>
        <p:nvSpPr>
          <p:cNvPr id="30" name="Text 42">
            <a:extLst>
              <a:ext uri="{FF2B5EF4-FFF2-40B4-BE49-F238E27FC236}">
                <a16:creationId xmlns:a16="http://schemas.microsoft.com/office/drawing/2014/main" id="{35699ECB-8568-A4A1-4765-22A8E1B542A0}"/>
              </a:ext>
            </a:extLst>
          </p:cNvPr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altLang="zh-CN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3: History Comparison Studio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General Usability — closing the learn → reflect → improve loop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1089607"/>
            <a:ext cx="620111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500" dirty="0"/>
          </a:p>
        </p:txBody>
      </p:sp>
      <p:pic>
        <p:nvPicPr>
          <p:cNvPr id="19" name="Image 0" descr="/sessions/69e34f4d1b776ba4061dfc0b/workspace/小组作业资料/UI/docs/figures/before3.png"/>
          <p:cNvPicPr>
            <a:picLocks noChangeAspect="1"/>
          </p:cNvPicPr>
          <p:nvPr/>
        </p:nvPicPr>
        <p:blipFill rotWithShape="1">
          <a:blip r:embed="rId3"/>
          <a:srcRect t="14947"/>
          <a:stretch/>
        </p:blipFill>
        <p:spPr>
          <a:xfrm>
            <a:off x="532220" y="1311297"/>
            <a:ext cx="3840480" cy="193495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480560" y="973021"/>
            <a:ext cx="722061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pic>
        <p:nvPicPr>
          <p:cNvPr id="21" name="Image 1" descr="/sessions/69e34f4d1b776ba4061dfc0b/workspace/小组作业资料/UI/docs/figures/afte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980" y="1315371"/>
            <a:ext cx="4098380" cy="255562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57200" y="3290948"/>
            <a:ext cx="37490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640080" y="3250691"/>
            <a:ext cx="3749040" cy="34290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23660" y="3646617"/>
            <a:ext cx="3749040" cy="2797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Comparison Studio — select 2 sessions to compare side by side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40080" y="3864784"/>
            <a:ext cx="3749040" cy="35522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score delta visualization across dimensions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40080" y="4093675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"Practice Similar Gap" button — from reflection back to targeted practice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40080" y="4433448"/>
            <a:ext cx="3749040" cy="31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session filtering (Practice / Review) and search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454158" y="3781093"/>
            <a:ext cx="2655096" cy="130013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9" name="Text 25"/>
          <p:cNvSpPr/>
          <p:nvPr/>
        </p:nvSpPr>
        <p:spPr>
          <a:xfrm>
            <a:off x="4454158" y="3781093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Overall Impact</a:t>
            </a:r>
            <a:endParaRPr lang="en-US" sz="1200" dirty="0"/>
          </a:p>
        </p:txBody>
      </p:sp>
      <p:pic>
        <p:nvPicPr>
          <p:cNvPr id="30" name="Image 2" descr="/sessions/69e34f4d1b776ba4061dfc0b/work/iteration_metrics_blue_800x4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399" y="3963924"/>
            <a:ext cx="2194560" cy="10972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904874" y="704088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904874" y="704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LIVE DEMO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60120" y="1508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601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2057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 &amp; quick start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22960" y="3063240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2960" y="30632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4884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2651760" y="1508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6517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240280" y="2057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+ Coaching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4028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page with live STAR feedback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14600" y="3063240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2514600" y="30632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4048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343400" y="1508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3434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931920" y="2057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Mgmt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3192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favorite, mark weak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06240" y="3063240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206240" y="30632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3212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035040" y="1508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0350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623560" y="2057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Fault ⚠️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2356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fail → text fallback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97880" y="3063240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897880" y="30632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2376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726680" y="1508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77266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315200" y="2057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Compare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Studio + gap practice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589520" y="3063240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7589520" y="30632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694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3337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83337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939796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939796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46220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046220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152644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152644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59068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59068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65492" y="18288"/>
            <a:ext cx="10515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5492" y="822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&amp; Design Principles</a:t>
            </a:r>
            <a:endParaRPr lang="en-US" sz="2600" dirty="0"/>
          </a:p>
        </p:txBody>
      </p:sp>
      <p:pic>
        <p:nvPicPr>
          <p:cNvPr id="17" name="Image 0" descr="/sessions/69e34f4d1b776ba4061dfc0b/work/roadmap_blue_1200x3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133" y="964692"/>
            <a:ext cx="4528053" cy="1143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57200" y="224028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40080" y="23317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Reusable Design Principles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269748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777240" y="27614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777240" y="2761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88720" y="269748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must include reasoning + confidence — let users judge, not blindly trust.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" y="320040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777240" y="326440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777240" y="3264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88720" y="320040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always have final control — AI suggestions can be overridden, undone, or discarded.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0080" y="370332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777240" y="376732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777240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88720" y="37033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failures must provide clear degradation paths — no dead ends, ever.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206240" y="10972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20624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0" y="2971800"/>
            <a:ext cx="27432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286000" y="3154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InterviewAI — Your AI Interview Prep Coach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33832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COMP7505  •  Track A: Smart Adaptive Interfaces  •  Group: Cre8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0" y="47777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1431</Words>
  <Application>Microsoft Macintosh PowerPoint</Application>
  <PresentationFormat>On-screen Show (16:9)</PresentationFormat>
  <Paragraphs>323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InterviewAI — AI Interview Prep Coach | COMP7505 Pitch</dc:title>
  <dc:subject>COMP7505 User Interface Design and Development - Track A</dc:subject>
  <dc:creator>Cre8</dc:creator>
  <cp:lastModifiedBy>尔飞 余</cp:lastModifiedBy>
  <cp:revision>7</cp:revision>
  <dcterms:created xsi:type="dcterms:W3CDTF">2026-04-18T11:28:19Z</dcterms:created>
  <dcterms:modified xsi:type="dcterms:W3CDTF">2026-04-20T13:12:34Z</dcterms:modified>
</cp:coreProperties>
</file>